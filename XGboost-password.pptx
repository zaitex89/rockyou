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+6Hrmkl45k3USfg0/cEN5OaYl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8872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920240" y="914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Password Pattern Analysis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20240" y="19659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Machine Learning on the RockYou Dataset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920240" y="2560320"/>
            <a:ext cx="5486400" cy="2743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371600" y="2834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100,000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Passwords Analyzed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023360" y="2834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023360" y="3429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Pattern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675120" y="2834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Features Extracted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EDA  →  Feature Engineering  →  XGBoost  →  SHAP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introduction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417320"/>
            <a:ext cx="4160520" cy="1005840"/>
          </a:xfrm>
          <a:prstGeom prst="rect">
            <a:avLst/>
          </a:prstGeom>
          <a:solidFill>
            <a:srgbClr val="21262D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75488" y="1463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5488" y="180136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5488" y="20756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14 million leaked passwords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072" y="17373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800600" y="1417320"/>
            <a:ext cx="4160520" cy="1005840"/>
          </a:xfrm>
          <a:prstGeom prst="rect">
            <a:avLst/>
          </a:prstGeom>
          <a:solidFill>
            <a:srgbClr val="21262D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910328" y="1463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10328" y="180136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910328" y="20756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Length, entropy, character patterns and surprises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9912" y="17373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365822" y="2606003"/>
            <a:ext cx="4160400" cy="1005900"/>
          </a:xfrm>
          <a:prstGeom prst="rect">
            <a:avLst/>
          </a:prstGeom>
          <a:solidFill>
            <a:srgbClr val="21262D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5488" y="26517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5488" y="29900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Classification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5488" y="32644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 archetypal password patterns we identified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5072" y="29260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4800600" y="2606040"/>
            <a:ext cx="4160520" cy="1005840"/>
          </a:xfrm>
          <a:prstGeom prst="rect">
            <a:avLst/>
          </a:prstGeom>
          <a:solidFill>
            <a:srgbClr val="21262D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910328" y="26517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910328" y="29900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10328" y="32644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XGBoost with grid-search hyperparameter 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9912" y="29260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365760" y="3794760"/>
            <a:ext cx="4160520" cy="1005840"/>
          </a:xfrm>
          <a:prstGeom prst="rect">
            <a:avLst/>
          </a:prstGeom>
          <a:solidFill>
            <a:srgbClr val="21262D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5488" y="38404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" y="417880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&amp; SHAP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" y="445312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What actually predicts password patterns?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5072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4800600" y="3794760"/>
            <a:ext cx="4160520" cy="1005840"/>
          </a:xfrm>
          <a:prstGeom prst="rect">
            <a:avLst/>
          </a:prstGeom>
          <a:solidFill>
            <a:srgbClr val="21262D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910328" y="38404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910328" y="417880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10328" y="445312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Security implications and lessons learned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912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30352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30352" y="7772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RockYou</a:t>
            </a:r>
            <a:r>
              <a:rPr i="1" lang="en-US" sz="13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the breach that changed password security forever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02920" y="1371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What is RockYou?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187452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Leaked in 2009 from the RockYou social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2920" y="235000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~14.3 million plaintext passwords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02920" y="282549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Used in security research worldwide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" y="330098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Represents real-world password behavior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02920" y="37764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We sampled 100,000 for this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663440" y="1234440"/>
            <a:ext cx="4114800" cy="74980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800600" y="1280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14.3M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800600" y="16642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Total passwords in leak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63440" y="2112264"/>
            <a:ext cx="4114800" cy="74980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00600" y="215798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100K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800600" y="254203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Random sample (seed=42)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663440" y="2990088"/>
            <a:ext cx="4114800" cy="74980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800600" y="303580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b="1" i="0" lang="en-US" sz="26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00600" y="341985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Unique passwords in sample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63440" y="3867912"/>
            <a:ext cx="4114800" cy="74980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800600" y="391363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6E6E"/>
                </a:solidFill>
                <a:latin typeface="Calibri"/>
                <a:ea typeface="Calibri"/>
                <a:cs typeface="Calibri"/>
                <a:sym typeface="Calibri"/>
              </a:rPr>
              <a:t>2009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800600" y="42976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Year of the breach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30352" y="384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30352" y="7772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Key findings from the RockYou sample = 100,000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1261872"/>
            <a:ext cx="196596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75488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8.7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75488" y="1920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chars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38912" y="221284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Average password length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487168" y="1261872"/>
            <a:ext cx="196596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2596896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6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6E6E"/>
                </a:solidFill>
                <a:latin typeface="Calibri"/>
                <a:ea typeface="Calibri"/>
                <a:cs typeface="Calibri"/>
                <a:sym typeface="Calibri"/>
              </a:rPr>
              <a:t>16.3</a:t>
            </a:r>
            <a:r>
              <a:rPr b="1" i="0" lang="en-US" sz="3200" u="none" cap="none" strike="noStrike">
                <a:solidFill>
                  <a:srgbClr val="FF6E6E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560320" y="221284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Digits-only passwords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08576" y="1261872"/>
            <a:ext cx="196596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718304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7.1</a:t>
            </a:r>
            <a:r>
              <a:rPr b="1" i="0" lang="en-US" sz="3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681728" y="221284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Contain special characters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729984" y="1261872"/>
            <a:ext cx="196596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839712" y="1371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9.3</a:t>
            </a:r>
            <a:r>
              <a:rPr b="1" i="0" lang="en-US" sz="32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803136" y="221284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Contain uppercase letter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65760" y="2724912"/>
            <a:ext cx="2651760" cy="21031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60" y="2724912"/>
            <a:ext cx="73152" cy="2103120"/>
          </a:xfrm>
          <a:prstGeom prst="rect">
            <a:avLst/>
          </a:prstGeom>
          <a:solidFill>
            <a:srgbClr val="FF6E6E"/>
          </a:solidFill>
          <a:ln cap="flat" cmpd="sng" w="12700">
            <a:solidFill>
              <a:srgbClr val="FF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30352" y="278892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Length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30352" y="3182112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Most passwords cluster at 6–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characters — well below the 12+ characters recommended today. Only digits account for 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16.3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% of all entries.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00400" y="2724912"/>
            <a:ext cx="2651760" cy="21031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200400" y="2724912"/>
            <a:ext cx="73152" cy="210312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364992" y="278892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Complexity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364992" y="3182112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7.1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% include special characters. Complexity rules in modern password policies directly target this weakness.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035040" y="2724912"/>
            <a:ext cx="2651760" cy="21031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035040" y="2724912"/>
            <a:ext cx="73152" cy="21031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199632" y="278892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Entropy is Skewed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99632" y="3182112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Entropy distribution is bimodal: pure-digit passwords cluster near 0-bit, while mixed passwords spread up to ~3.5 bits per character.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65760" y="18288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Password Length Distribution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5760" y="685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EDA Deep Dive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172200" y="1005840"/>
            <a:ext cx="2606040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309360" y="1078992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6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6E6E"/>
                </a:solidFill>
                <a:latin typeface="Calibri"/>
                <a:ea typeface="Calibri"/>
                <a:cs typeface="Calibri"/>
                <a:sym typeface="Calibri"/>
              </a:rPr>
              <a:t>8 chars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309360" y="151790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Most common length (28.6%)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172200" y="2212848"/>
            <a:ext cx="2606040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309360" y="2286000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8.7%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309360" y="272491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Mean password length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1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red dashed line at 8 chars marks the minimum recommended length</a:t>
            </a:r>
            <a:r>
              <a:rPr i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yet the majority of passwords fall at or below it</a:t>
            </a:r>
            <a:r>
              <a:rPr b="0" i="1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975357"/>
            <a:ext cx="5023121" cy="3489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30352" y="38404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Password Classifications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30352" y="7772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Rule-based regex classification before machine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852160" y="1051560"/>
            <a:ext cx="2971800" cy="3840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989320" y="117043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989320" y="16002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6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6E6E"/>
                </a:solidFill>
                <a:latin typeface="Consolas"/>
                <a:ea typeface="Consolas"/>
                <a:cs typeface="Consolas"/>
                <a:sym typeface="Consolas"/>
              </a:rPr>
              <a:t>123456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89320" y="20025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myP@ssw0rd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989320" y="240487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sunshine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989320" y="280720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password123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989320" y="320954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john1987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989320" y="36118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Jessica12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989320" y="401421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6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6E6E"/>
                </a:solidFill>
                <a:latin typeface="Consolas"/>
                <a:ea typeface="Consolas"/>
                <a:cs typeface="Consolas"/>
                <a:sym typeface="Consolas"/>
              </a:rPr>
              <a:t>aaaaaa1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989320" y="44165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6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6E6E"/>
                </a:solidFill>
                <a:latin typeface="Consolas"/>
                <a:ea typeface="Consolas"/>
                <a:cs typeface="Consolas"/>
                <a:sym typeface="Consolas"/>
              </a:rPr>
              <a:t>qwerty123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50" y="1249680"/>
            <a:ext cx="4389072" cy="3704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530352" y="384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30352" y="7772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XGBoost multiclass classifier with grid-search hyperparameter 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1371600"/>
            <a:ext cx="1828800" cy="1005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57200" y="1371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80/20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286000" y="16916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633472" y="1371600"/>
            <a:ext cx="1828800" cy="10058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633472" y="1371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Grid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3×3 combos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462272" y="16916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809744" y="1371600"/>
            <a:ext cx="1828800" cy="10058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809744" y="1371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Params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638544" y="16916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986016" y="1371600"/>
            <a:ext cx="1828800" cy="1005840"/>
          </a:xfrm>
          <a:prstGeom prst="rect">
            <a:avLst/>
          </a:prstGeom>
          <a:solidFill>
            <a:srgbClr val="FF6E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986016" y="1371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XGBoost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 trees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5760" y="2606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Hyperparameter Grid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5760" y="3035808"/>
            <a:ext cx="484632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02920" y="308152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max_depth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468880" y="308152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3, 5, 7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65760" y="3493008"/>
            <a:ext cx="4846320" cy="41148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02920" y="353872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learning_rate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468880" y="353872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0.05, 0.1, 0.2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65760" y="3950208"/>
            <a:ext cx="484632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02920" y="399592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n_estimators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468880" y="399592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100 (tune) / 200 (final)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577840" y="2606040"/>
            <a:ext cx="3200400" cy="2240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577840" y="2606040"/>
            <a:ext cx="3200400" cy="457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715000" y="26974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Best Configuration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715000" y="313639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max_depth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406640" y="313639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715000" y="36484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learning_rate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406640" y="36484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b="1" lang="en-US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715000" y="4160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406640" y="41605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~9</a:t>
            </a:r>
            <a:r>
              <a:rPr b="1" lang="en-US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i="0" lang="en-US" sz="1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65760" y="685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Classification report — test set (20,000 passwords)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400800" y="164592"/>
            <a:ext cx="2377440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400800" y="1828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~9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400800" y="640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975" y="1215750"/>
            <a:ext cx="6860439" cy="36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530352" y="384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&amp; SHAP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035040" y="1051560"/>
            <a:ext cx="27889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035040" y="1051560"/>
            <a:ext cx="64008" cy="1115568"/>
          </a:xfrm>
          <a:prstGeom prst="rect">
            <a:avLst/>
          </a:prstGeom>
          <a:solidFill>
            <a:srgbClr val="FF6E6E"/>
          </a:solidFill>
          <a:ln cap="flat" cmpd="sng" w="12700">
            <a:solidFill>
              <a:srgbClr val="FF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172200" y="1115568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only_alpha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#1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172200" y="1444752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only_</a:t>
            </a:r>
            <a:r>
              <a:rPr lang="en-US" sz="10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alpha almost perfectly </a:t>
            </a:r>
            <a:r>
              <a:rPr lang="en-US" sz="10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separates 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from other classes — the single strongest signal.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035040" y="2304288"/>
            <a:ext cx="27889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035040" y="2304288"/>
            <a:ext cx="64008" cy="111556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172200" y="2368296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entropy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172200" y="269748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Entropy cleanly separates keyboard walks (near 0) from complex mixed passwords, helping distinguish </a:t>
            </a:r>
            <a:r>
              <a:rPr lang="en-US" sz="10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from the other 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classes.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035040" y="3557016"/>
            <a:ext cx="27889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035040" y="3557016"/>
            <a:ext cx="64008" cy="111556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172200" y="3621024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confirms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172200" y="3950208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SHAP analysis across all classes confirms XGBoost and permutation importance agree — </a:t>
            </a:r>
            <a:r>
              <a:rPr lang="en-US" sz="10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almost no ghost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75" y="1015136"/>
            <a:ext cx="5489426" cy="3826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E6E"/>
          </a:solidFill>
          <a:ln cap="flat" cmpd="sng" w="12700">
            <a:solidFill>
              <a:srgbClr val="FF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30352" y="38404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Takeaways &amp; Implications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365760" y="1097280"/>
            <a:ext cx="40690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365760" y="1097280"/>
            <a:ext cx="4069080" cy="54864"/>
          </a:xfrm>
          <a:prstGeom prst="rect">
            <a:avLst/>
          </a:prstGeom>
          <a:solidFill>
            <a:srgbClr val="FF6E6E"/>
          </a:solidFill>
          <a:ln cap="flat" cmpd="sng" w="12700">
            <a:solidFill>
              <a:srgbClr val="FF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801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1005840" y="12344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Passwords are dangerously predictable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02920" y="1783080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~16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% are digits-only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and most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fall at 6-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characters. Attackers can cover most of the space with just a few pattern templates.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709160" y="1097280"/>
            <a:ext cx="40690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709160" y="1097280"/>
            <a:ext cx="4069080" cy="5486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2801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5349240" y="12344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identifies patterns instantly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846320" y="1783080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XGBoost achieves ~9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% classification accuracy using 22 simple features no brute-force needed to understand password behaviour.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65760" y="3017520"/>
            <a:ext cx="40690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65760" y="3017520"/>
            <a:ext cx="406908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3200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1005840" y="31546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Entropy + length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are the master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3703320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Two features alone explain most of the classification power. They should be the first metrics any password checker evaluates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for overall strength.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709160" y="3017520"/>
            <a:ext cx="40690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4709160" y="3017520"/>
            <a:ext cx="40690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3200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5349240" y="31546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makes the black box explainable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846320" y="3703320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XGBoost + SHAP analysis confirms there are almost no redundant features 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- most features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contributes. This validates the feature engineering approach.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6E6E"/>
          </a:solidFill>
          <a:ln cap="flat" cmpd="sng" w="12700">
            <a:solidFill>
              <a:srgbClr val="FF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2026-05-18T11:06:15Z</dcterms:created>
  <dc:creator>PptxGenJS</dc:creator>
</cp:coreProperties>
</file>